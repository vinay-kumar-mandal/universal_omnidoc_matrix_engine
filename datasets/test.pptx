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333333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</a:t>
            </a:r>
            <a:r>
              <a:rPr dirty="0" spc="-25"/>
              <a:t>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333333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</a:t>
            </a:r>
            <a:r>
              <a:rPr dirty="0" spc="-25"/>
              <a:t>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333333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</a:t>
            </a:r>
            <a:r>
              <a:rPr dirty="0" spc="-25"/>
              <a:t>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333333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</a:t>
            </a:r>
            <a:r>
              <a:rPr dirty="0" spc="-25"/>
              <a:t>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</a:t>
            </a:r>
            <a:r>
              <a:rPr dirty="0" spc="-25"/>
              <a:t>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8942" y="313311"/>
            <a:ext cx="5323840" cy="31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333333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548712" y="7458231"/>
            <a:ext cx="332104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</a:t>
            </a:r>
            <a:r>
              <a:rPr dirty="0" spc="-25"/>
              <a:t>3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hyperlink" Target="https://timesofindia.indiatimes.com/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timesofindia.indiatimes.com/articleshowprint/135097877.cms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imesofindia.indiatimes.com/articleshowprint/135097877.cms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timesofindia.indiatimes.com/articleshowprint/135097877.cms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92099" y="171513"/>
            <a:ext cx="855344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10/22/26, </a:t>
            </a:r>
            <a:r>
              <a:rPr dirty="0" sz="800">
                <a:latin typeface="Arial"/>
                <a:cs typeface="Arial"/>
              </a:rPr>
              <a:t>7:39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PM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1529" y="171513"/>
            <a:ext cx="60064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Decades-</a:t>
            </a:r>
            <a:r>
              <a:rPr dirty="0" sz="800">
                <a:latin typeface="Arial"/>
                <a:cs typeface="Arial"/>
              </a:rPr>
              <a:t>old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flaw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discovered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Google,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OpenAI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AI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tools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forces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government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public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websites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go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offline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globally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-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Times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India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865" y="430111"/>
            <a:ext cx="59309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20">
                <a:latin typeface="Arial"/>
                <a:cs typeface="Arial"/>
              </a:rPr>
              <a:t>Printed</a:t>
            </a:r>
            <a:r>
              <a:rPr dirty="0" sz="850" spc="-5"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from</a:t>
            </a:r>
            <a:endParaRPr sz="850">
              <a:latin typeface="Arial"/>
              <a:cs typeface="Arial"/>
            </a:endParaRPr>
          </a:p>
        </p:txBody>
      </p:sp>
      <p:pic>
        <p:nvPicPr>
          <p:cNvPr id="6" name="object 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565" y="613519"/>
            <a:ext cx="2210221" cy="161723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541642" y="874074"/>
            <a:ext cx="9074785" cy="27305"/>
          </a:xfrm>
          <a:custGeom>
            <a:avLst/>
            <a:gdLst/>
            <a:ahLst/>
            <a:cxnLst/>
            <a:rect l="l" t="t" r="r" b="b"/>
            <a:pathLst>
              <a:path w="9074785" h="27305">
                <a:moveTo>
                  <a:pt x="9074485" y="26953"/>
                </a:moveTo>
                <a:lnTo>
                  <a:pt x="0" y="26953"/>
                </a:lnTo>
                <a:lnTo>
                  <a:pt x="0" y="0"/>
                </a:lnTo>
                <a:lnTo>
                  <a:pt x="9074485" y="0"/>
                </a:lnTo>
                <a:lnTo>
                  <a:pt x="9074485" y="26953"/>
                </a:lnTo>
                <a:close/>
              </a:path>
            </a:pathLst>
          </a:custGeom>
          <a:solidFill>
            <a:srgbClr val="D6172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Decades-old flaw discovered by Google, OpenAI AI tools forces government and public websites to go offline globall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642" y="2446386"/>
            <a:ext cx="3593855" cy="2695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8942" y="897312"/>
            <a:ext cx="8998585" cy="622173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 marR="5080">
              <a:lnSpc>
                <a:spcPts val="3110"/>
              </a:lnSpc>
              <a:spcBef>
                <a:spcPts val="440"/>
              </a:spcBef>
            </a:pPr>
            <a:r>
              <a:rPr dirty="0" sz="2800">
                <a:latin typeface="Montserrat Thin"/>
                <a:cs typeface="Montserrat Thin"/>
              </a:rPr>
              <a:t>Decades-old</a:t>
            </a:r>
            <a:r>
              <a:rPr dirty="0" sz="2800" spc="229">
                <a:latin typeface="Montserrat Thin"/>
                <a:cs typeface="Montserrat Thin"/>
              </a:rPr>
              <a:t> </a:t>
            </a:r>
            <a:r>
              <a:rPr dirty="0" sz="2800" spc="55">
                <a:latin typeface="Montserrat Thin"/>
                <a:cs typeface="Montserrat Thin"/>
              </a:rPr>
              <a:t>flaw</a:t>
            </a:r>
            <a:r>
              <a:rPr dirty="0" sz="2800" spc="229">
                <a:latin typeface="Montserrat Thin"/>
                <a:cs typeface="Montserrat Thin"/>
              </a:rPr>
              <a:t> </a:t>
            </a:r>
            <a:r>
              <a:rPr dirty="0" sz="2800">
                <a:latin typeface="Montserrat Thin"/>
                <a:cs typeface="Montserrat Thin"/>
              </a:rPr>
              <a:t>discovered</a:t>
            </a:r>
            <a:r>
              <a:rPr dirty="0" sz="2800" spc="229">
                <a:latin typeface="Montserrat Thin"/>
                <a:cs typeface="Montserrat Thin"/>
              </a:rPr>
              <a:t> </a:t>
            </a:r>
            <a:r>
              <a:rPr dirty="0" sz="2800">
                <a:latin typeface="Montserrat Thin"/>
                <a:cs typeface="Montserrat Thin"/>
              </a:rPr>
              <a:t>by</a:t>
            </a:r>
            <a:r>
              <a:rPr dirty="0" sz="2800" spc="229">
                <a:latin typeface="Montserrat Thin"/>
                <a:cs typeface="Montserrat Thin"/>
              </a:rPr>
              <a:t> </a:t>
            </a:r>
            <a:r>
              <a:rPr dirty="0" sz="2800">
                <a:latin typeface="Montserrat Thin"/>
                <a:cs typeface="Montserrat Thin"/>
              </a:rPr>
              <a:t>Google,</a:t>
            </a:r>
            <a:r>
              <a:rPr dirty="0" sz="2800" spc="235">
                <a:latin typeface="Montserrat Thin"/>
                <a:cs typeface="Montserrat Thin"/>
              </a:rPr>
              <a:t> </a:t>
            </a:r>
            <a:r>
              <a:rPr dirty="0" sz="2800">
                <a:latin typeface="Montserrat Thin"/>
                <a:cs typeface="Montserrat Thin"/>
              </a:rPr>
              <a:t>OpenAI</a:t>
            </a:r>
            <a:r>
              <a:rPr dirty="0" sz="2800" spc="229">
                <a:latin typeface="Montserrat Thin"/>
                <a:cs typeface="Montserrat Thin"/>
              </a:rPr>
              <a:t> </a:t>
            </a:r>
            <a:r>
              <a:rPr dirty="0" sz="2800" spc="35">
                <a:latin typeface="Montserrat Thin"/>
                <a:cs typeface="Montserrat Thin"/>
              </a:rPr>
              <a:t>AI </a:t>
            </a:r>
            <a:r>
              <a:rPr dirty="0" sz="2800">
                <a:latin typeface="Montserrat Thin"/>
                <a:cs typeface="Montserrat Thin"/>
              </a:rPr>
              <a:t>tools</a:t>
            </a:r>
            <a:r>
              <a:rPr dirty="0" sz="2800" spc="225">
                <a:latin typeface="Montserrat Thin"/>
                <a:cs typeface="Montserrat Thin"/>
              </a:rPr>
              <a:t> </a:t>
            </a:r>
            <a:r>
              <a:rPr dirty="0" sz="2800">
                <a:latin typeface="Montserrat Thin"/>
                <a:cs typeface="Montserrat Thin"/>
              </a:rPr>
              <a:t>forces</a:t>
            </a:r>
            <a:r>
              <a:rPr dirty="0" sz="2800" spc="229">
                <a:latin typeface="Montserrat Thin"/>
                <a:cs typeface="Montserrat Thin"/>
              </a:rPr>
              <a:t> </a:t>
            </a:r>
            <a:r>
              <a:rPr dirty="0" sz="2800">
                <a:latin typeface="Montserrat Thin"/>
                <a:cs typeface="Montserrat Thin"/>
              </a:rPr>
              <a:t>government</a:t>
            </a:r>
            <a:r>
              <a:rPr dirty="0" sz="2800" spc="229">
                <a:latin typeface="Montserrat Thin"/>
                <a:cs typeface="Montserrat Thin"/>
              </a:rPr>
              <a:t> </a:t>
            </a:r>
            <a:r>
              <a:rPr dirty="0" sz="2800">
                <a:latin typeface="Montserrat Thin"/>
                <a:cs typeface="Montserrat Thin"/>
              </a:rPr>
              <a:t>and</a:t>
            </a:r>
            <a:r>
              <a:rPr dirty="0" sz="2800" spc="229">
                <a:latin typeface="Montserrat Thin"/>
                <a:cs typeface="Montserrat Thin"/>
              </a:rPr>
              <a:t> </a:t>
            </a:r>
            <a:r>
              <a:rPr dirty="0" sz="2800">
                <a:latin typeface="Montserrat Thin"/>
                <a:cs typeface="Montserrat Thin"/>
              </a:rPr>
              <a:t>public</a:t>
            </a:r>
            <a:r>
              <a:rPr dirty="0" sz="2800" spc="225">
                <a:latin typeface="Montserrat Thin"/>
                <a:cs typeface="Montserrat Thin"/>
              </a:rPr>
              <a:t> </a:t>
            </a:r>
            <a:r>
              <a:rPr dirty="0" sz="2800">
                <a:latin typeface="Montserrat Thin"/>
                <a:cs typeface="Montserrat Thin"/>
              </a:rPr>
              <a:t>websites</a:t>
            </a:r>
            <a:r>
              <a:rPr dirty="0" sz="2800" spc="229">
                <a:latin typeface="Montserrat Thin"/>
                <a:cs typeface="Montserrat Thin"/>
              </a:rPr>
              <a:t> </a:t>
            </a:r>
            <a:r>
              <a:rPr dirty="0" sz="2800" spc="-25">
                <a:latin typeface="Montserrat Thin"/>
                <a:cs typeface="Montserrat Thin"/>
              </a:rPr>
              <a:t>to</a:t>
            </a:r>
            <a:r>
              <a:rPr dirty="0" sz="2800" spc="700">
                <a:latin typeface="Montserrat Thin"/>
                <a:cs typeface="Montserrat Thin"/>
              </a:rPr>
              <a:t> </a:t>
            </a:r>
            <a:r>
              <a:rPr dirty="0" sz="2800">
                <a:latin typeface="Montserrat Thin"/>
                <a:cs typeface="Montserrat Thin"/>
              </a:rPr>
              <a:t>go</a:t>
            </a:r>
            <a:r>
              <a:rPr dirty="0" sz="2800" spc="55">
                <a:latin typeface="Montserrat Thin"/>
                <a:cs typeface="Montserrat Thin"/>
              </a:rPr>
              <a:t> </a:t>
            </a:r>
            <a:r>
              <a:rPr dirty="0" sz="2800" spc="45">
                <a:latin typeface="Montserrat Thin"/>
                <a:cs typeface="Montserrat Thin"/>
              </a:rPr>
              <a:t>offline</a:t>
            </a:r>
            <a:r>
              <a:rPr dirty="0" sz="2800" spc="60">
                <a:latin typeface="Montserrat Thin"/>
                <a:cs typeface="Montserrat Thin"/>
              </a:rPr>
              <a:t> </a:t>
            </a:r>
            <a:r>
              <a:rPr dirty="0" sz="2800" spc="-10">
                <a:latin typeface="Montserrat Thin"/>
                <a:cs typeface="Montserrat Thin"/>
              </a:rPr>
              <a:t>globally</a:t>
            </a:r>
            <a:endParaRPr sz="2800">
              <a:latin typeface="Montserrat Thin"/>
              <a:cs typeface="Montserrat Thi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000" spc="-10">
                <a:solidFill>
                  <a:srgbClr val="666666"/>
                </a:solidFill>
                <a:latin typeface="Montserrat Thin"/>
                <a:cs typeface="Montserrat Thin"/>
              </a:rPr>
              <a:t>TIMESOFINDIA.COM</a:t>
            </a:r>
            <a:r>
              <a:rPr dirty="0" sz="1000" spc="-30">
                <a:solidFill>
                  <a:srgbClr val="666666"/>
                </a:solidFill>
                <a:latin typeface="Montserrat Thin"/>
                <a:cs typeface="Montserrat Thin"/>
              </a:rPr>
              <a:t> </a:t>
            </a:r>
            <a:r>
              <a:rPr dirty="0" sz="1000">
                <a:solidFill>
                  <a:srgbClr val="666666"/>
                </a:solidFill>
                <a:latin typeface="Montserrat Thin"/>
                <a:cs typeface="Montserrat Thin"/>
              </a:rPr>
              <a:t>|</a:t>
            </a:r>
            <a:r>
              <a:rPr dirty="0" sz="1000" spc="-30">
                <a:solidFill>
                  <a:srgbClr val="666666"/>
                </a:solidFill>
                <a:latin typeface="Montserrat Thin"/>
                <a:cs typeface="Montserrat Thin"/>
              </a:rPr>
              <a:t> </a:t>
            </a:r>
            <a:r>
              <a:rPr dirty="0" sz="1000">
                <a:solidFill>
                  <a:srgbClr val="666666"/>
                </a:solidFill>
                <a:latin typeface="Montserrat Thin"/>
                <a:cs typeface="Montserrat Thin"/>
              </a:rPr>
              <a:t>Oct</a:t>
            </a:r>
            <a:r>
              <a:rPr dirty="0" sz="1000" spc="-30">
                <a:solidFill>
                  <a:srgbClr val="666666"/>
                </a:solidFill>
                <a:latin typeface="Montserrat Thin"/>
                <a:cs typeface="Montserrat Thin"/>
              </a:rPr>
              <a:t> </a:t>
            </a:r>
            <a:r>
              <a:rPr dirty="0" sz="1000">
                <a:solidFill>
                  <a:srgbClr val="666666"/>
                </a:solidFill>
                <a:latin typeface="Montserrat Thin"/>
                <a:cs typeface="Montserrat Thin"/>
              </a:rPr>
              <a:t>21,</a:t>
            </a:r>
            <a:r>
              <a:rPr dirty="0" sz="1000" spc="-30">
                <a:solidFill>
                  <a:srgbClr val="666666"/>
                </a:solidFill>
                <a:latin typeface="Montserrat Thin"/>
                <a:cs typeface="Montserrat Thin"/>
              </a:rPr>
              <a:t> </a:t>
            </a:r>
            <a:r>
              <a:rPr dirty="0" sz="1000">
                <a:solidFill>
                  <a:srgbClr val="666666"/>
                </a:solidFill>
                <a:latin typeface="Montserrat Thin"/>
                <a:cs typeface="Montserrat Thin"/>
              </a:rPr>
              <a:t>2026,</a:t>
            </a:r>
            <a:r>
              <a:rPr dirty="0" sz="1000" spc="-25">
                <a:solidFill>
                  <a:srgbClr val="666666"/>
                </a:solidFill>
                <a:latin typeface="Montserrat Thin"/>
                <a:cs typeface="Montserrat Thin"/>
              </a:rPr>
              <a:t> </a:t>
            </a:r>
            <a:r>
              <a:rPr dirty="0" sz="1000">
                <a:solidFill>
                  <a:srgbClr val="666666"/>
                </a:solidFill>
                <a:latin typeface="Montserrat Thin"/>
                <a:cs typeface="Montserrat Thin"/>
              </a:rPr>
              <a:t>11.13</a:t>
            </a:r>
            <a:r>
              <a:rPr dirty="0" sz="1000" spc="-30">
                <a:solidFill>
                  <a:srgbClr val="666666"/>
                </a:solidFill>
                <a:latin typeface="Montserrat Thin"/>
                <a:cs typeface="Montserrat Thin"/>
              </a:rPr>
              <a:t> </a:t>
            </a:r>
            <a:r>
              <a:rPr dirty="0" sz="1000">
                <a:solidFill>
                  <a:srgbClr val="666666"/>
                </a:solidFill>
                <a:latin typeface="Montserrat Thin"/>
                <a:cs typeface="Montserrat Thin"/>
              </a:rPr>
              <a:t>PM</a:t>
            </a:r>
            <a:r>
              <a:rPr dirty="0" sz="1000" spc="-30">
                <a:solidFill>
                  <a:srgbClr val="666666"/>
                </a:solidFill>
                <a:latin typeface="Montserrat Thin"/>
                <a:cs typeface="Montserrat Thin"/>
              </a:rPr>
              <a:t> </a:t>
            </a:r>
            <a:r>
              <a:rPr dirty="0" sz="1000" spc="-25">
                <a:solidFill>
                  <a:srgbClr val="666666"/>
                </a:solidFill>
                <a:latin typeface="Montserrat Thin"/>
                <a:cs typeface="Montserrat Thin"/>
              </a:rPr>
              <a:t>IST</a:t>
            </a:r>
            <a:endParaRPr sz="1000">
              <a:latin typeface="Montserrat Thin"/>
              <a:cs typeface="Montserrat Thin"/>
            </a:endParaRPr>
          </a:p>
          <a:p>
            <a:pPr marL="3740785" marR="14604">
              <a:lnSpc>
                <a:spcPct val="127299"/>
              </a:lnSpc>
              <a:spcBef>
                <a:spcPts val="405"/>
              </a:spcBef>
            </a:pP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Government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portals,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municipal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networks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public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institutions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across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Europe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other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regions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went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offline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on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Wednesday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(October</a:t>
            </a:r>
            <a:r>
              <a:rPr dirty="0" sz="1250" spc="114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21)</a:t>
            </a:r>
            <a:r>
              <a:rPr dirty="0" sz="1250" spc="114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after</a:t>
            </a:r>
            <a:r>
              <a:rPr dirty="0" sz="1250" spc="114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researchers</a:t>
            </a:r>
            <a:r>
              <a:rPr dirty="0" sz="1250" spc="114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disclosed</a:t>
            </a:r>
            <a:r>
              <a:rPr dirty="0" sz="1250" spc="12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critical</a:t>
            </a:r>
            <a:r>
              <a:rPr dirty="0" sz="1250" spc="114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vulnerabilities</a:t>
            </a:r>
            <a:r>
              <a:rPr dirty="0" sz="1250" spc="114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5">
                <a:solidFill>
                  <a:srgbClr val="333333"/>
                </a:solidFill>
                <a:latin typeface="Montserrat Thin"/>
                <a:cs typeface="Montserrat Thin"/>
              </a:rPr>
              <a:t>in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PHP,</a:t>
            </a:r>
            <a:r>
              <a:rPr dirty="0" sz="1250" spc="6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foundational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programming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language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that</a:t>
            </a:r>
            <a:r>
              <a:rPr dirty="0" sz="1250" spc="6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powers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0">
                <a:solidFill>
                  <a:srgbClr val="333333"/>
                </a:solidFill>
                <a:latin typeface="Montserrat Thin"/>
                <a:cs typeface="Montserrat Thin"/>
              </a:rPr>
              <a:t>vast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portion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of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global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web.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disclosures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prompted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emergency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responses</a:t>
            </a:r>
            <a:r>
              <a:rPr dirty="0" sz="1250" spc="10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from</a:t>
            </a:r>
            <a:r>
              <a:rPr dirty="0" sz="1250" spc="11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IT</a:t>
            </a:r>
            <a:r>
              <a:rPr dirty="0" sz="1250" spc="10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teams</a:t>
            </a:r>
            <a:r>
              <a:rPr dirty="0" sz="1250" spc="11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worldwide,</a:t>
            </a:r>
            <a:r>
              <a:rPr dirty="0" sz="1250" spc="10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with</a:t>
            </a:r>
            <a:r>
              <a:rPr dirty="0" sz="1250" spc="11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operators</a:t>
            </a:r>
            <a:r>
              <a:rPr dirty="0" sz="1250" spc="10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taking</a:t>
            </a:r>
            <a:r>
              <a:rPr dirty="0" sz="1250" spc="11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critical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servers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offline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defensive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shield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prevent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malicious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intrusions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before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security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updates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could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be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deployed.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Developers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of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5">
                <a:solidFill>
                  <a:srgbClr val="333333"/>
                </a:solidFill>
                <a:latin typeface="Montserrat Thin"/>
                <a:cs typeface="Montserrat Thin"/>
              </a:rPr>
              <a:t>the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open-source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PHP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language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published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urgent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security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fixes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5">
                <a:solidFill>
                  <a:srgbClr val="333333"/>
                </a:solidFill>
                <a:latin typeface="Montserrat Thin"/>
                <a:cs typeface="Montserrat Thin"/>
              </a:rPr>
              <a:t>for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flaws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that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had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remained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buried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inside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language’s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codebase</a:t>
            </a:r>
            <a:r>
              <a:rPr dirty="0" sz="1250" spc="5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for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years.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Issuing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emergency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advisory,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team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stated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that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5">
                <a:solidFill>
                  <a:srgbClr val="333333"/>
                </a:solidFill>
                <a:latin typeface="Montserrat Thin"/>
                <a:cs typeface="Montserrat Thin"/>
              </a:rPr>
              <a:t>all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site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owners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server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administrators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are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“encouraged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update</a:t>
            </a:r>
            <a:endParaRPr sz="1250">
              <a:latin typeface="Montserrat Thin"/>
              <a:cs typeface="Montserrat Thi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immediately.”</a:t>
            </a:r>
            <a:endParaRPr sz="1250">
              <a:latin typeface="Montserrat Thin"/>
              <a:cs typeface="Montserrat Thin"/>
            </a:endParaRPr>
          </a:p>
          <a:p>
            <a:pPr marL="12700" marR="459105">
              <a:lnSpc>
                <a:spcPct val="127299"/>
              </a:lnSpc>
            </a:pP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With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tech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security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firms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warning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that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malicious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actors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have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already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begun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targeting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unpatched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setups,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5">
                <a:solidFill>
                  <a:srgbClr val="333333"/>
                </a:solidFill>
                <a:latin typeface="Montserrat Thin"/>
                <a:cs typeface="Montserrat Thin"/>
              </a:rPr>
              <a:t>the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disclosure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triggered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immediate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“race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exploit.”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As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fixes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are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now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public,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analysts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warned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that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artificial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intelligence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(AI)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tools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could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allow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hackers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reverse-engineer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vulnerability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with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minimal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effort.</a:t>
            </a:r>
            <a:endParaRPr sz="1250">
              <a:latin typeface="Montserrat Thin"/>
              <a:cs typeface="Montserrat Thin"/>
            </a:endParaRPr>
          </a:p>
          <a:p>
            <a:pPr algn="just" marL="12700" marR="332105">
              <a:lnSpc>
                <a:spcPct val="127299"/>
              </a:lnSpc>
              <a:spcBef>
                <a:spcPts val="710"/>
              </a:spcBef>
            </a:pP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“Pre-AI,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this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manual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work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would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be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difficult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implement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even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harder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scale.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With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AI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this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is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no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longer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50">
                <a:solidFill>
                  <a:srgbClr val="333333"/>
                </a:solidFill>
                <a:latin typeface="Montserrat Thin"/>
                <a:cs typeface="Montserrat Thin"/>
              </a:rPr>
              <a:t>a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barrier,”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noted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cybersecurity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firm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Wiz,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warning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that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AI-assisted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attacks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could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lead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mass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compromise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5">
                <a:solidFill>
                  <a:srgbClr val="333333"/>
                </a:solidFill>
                <a:latin typeface="Montserrat Thin"/>
                <a:cs typeface="Montserrat Thin"/>
              </a:rPr>
              <a:t>of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unprotected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web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servers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across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internet.</a:t>
            </a:r>
            <a:endParaRPr sz="1250">
              <a:latin typeface="Montserrat Thin"/>
              <a:cs typeface="Montserrat Thi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099" y="7458231"/>
            <a:ext cx="3061970" cy="13906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800" spc="-10">
                <a:latin typeface="Arial"/>
                <a:cs typeface="Arial"/>
                <a:hlinkClick r:id="rId5"/>
              </a:rPr>
              <a:t>https://timesofindia.indiatimes.com/articleshowprint/135097877.cms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</a:t>
            </a: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8942" y="313311"/>
            <a:ext cx="5323840" cy="3168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35"/>
              <a:t>Flaw</a:t>
            </a:r>
            <a:r>
              <a:rPr dirty="0" spc="10"/>
              <a:t> </a:t>
            </a:r>
            <a:r>
              <a:rPr dirty="0" spc="85"/>
              <a:t>impacting</a:t>
            </a:r>
            <a:r>
              <a:rPr dirty="0" spc="10"/>
              <a:t> </a:t>
            </a:r>
            <a:r>
              <a:rPr dirty="0" spc="130"/>
              <a:t>the</a:t>
            </a:r>
            <a:r>
              <a:rPr dirty="0" spc="10"/>
              <a:t> </a:t>
            </a:r>
            <a:r>
              <a:rPr dirty="0"/>
              <a:t>‘backbone</a:t>
            </a:r>
            <a:r>
              <a:rPr dirty="0" spc="10"/>
              <a:t> </a:t>
            </a:r>
            <a:r>
              <a:rPr dirty="0" spc="110"/>
              <a:t>of</a:t>
            </a:r>
            <a:r>
              <a:rPr dirty="0" spc="10"/>
              <a:t> </a:t>
            </a:r>
            <a:r>
              <a:rPr dirty="0" spc="130"/>
              <a:t>the</a:t>
            </a:r>
            <a:r>
              <a:rPr dirty="0" spc="15"/>
              <a:t> </a:t>
            </a:r>
            <a:r>
              <a:rPr dirty="0" spc="-20"/>
              <a:t>web’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2099" y="171513"/>
            <a:ext cx="83458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52040" algn="l"/>
              </a:tabLst>
            </a:pPr>
            <a:r>
              <a:rPr dirty="0" sz="800" spc="-10">
                <a:latin typeface="Arial"/>
                <a:cs typeface="Arial"/>
              </a:rPr>
              <a:t>10/22/26, </a:t>
            </a:r>
            <a:r>
              <a:rPr dirty="0" sz="800">
                <a:latin typeface="Arial"/>
                <a:cs typeface="Arial"/>
              </a:rPr>
              <a:t>7:39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PM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10">
                <a:latin typeface="Arial"/>
                <a:cs typeface="Arial"/>
              </a:rPr>
              <a:t>Decades-</a:t>
            </a:r>
            <a:r>
              <a:rPr dirty="0" sz="800">
                <a:latin typeface="Arial"/>
                <a:cs typeface="Arial"/>
              </a:rPr>
              <a:t>old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flaw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discovered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Google,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OpenAI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AI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tools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forces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government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public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websites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go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offline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globally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-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Times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India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942" y="749964"/>
            <a:ext cx="8961755" cy="552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9220">
              <a:lnSpc>
                <a:spcPct val="127299"/>
              </a:lnSpc>
              <a:spcBef>
                <a:spcPts val="95"/>
              </a:spcBef>
            </a:pP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Created</a:t>
            </a:r>
            <a:r>
              <a:rPr dirty="0" sz="1250" spc="6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in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early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1990s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as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“Personal</a:t>
            </a:r>
            <a:r>
              <a:rPr dirty="0" sz="1250" spc="6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Home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Page,”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PHP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has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evolved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into</a:t>
            </a:r>
            <a:r>
              <a:rPr dirty="0" sz="1250" spc="6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one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of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core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backbones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of</a:t>
            </a:r>
            <a:r>
              <a:rPr dirty="0" sz="1250" spc="6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modern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internet</a:t>
            </a:r>
            <a:r>
              <a:rPr dirty="0" sz="1250" spc="3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infrastructure.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When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a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user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visits</a:t>
            </a:r>
            <a:r>
              <a:rPr dirty="0" sz="1250" spc="3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a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webpage,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servers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running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PHP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assemble</a:t>
            </a:r>
            <a:r>
              <a:rPr dirty="0" sz="1250" spc="3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text,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media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3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0">
                <a:solidFill>
                  <a:srgbClr val="333333"/>
                </a:solidFill>
                <a:latin typeface="Montserrat Thin"/>
                <a:cs typeface="Montserrat Thin"/>
              </a:rPr>
              <a:t>code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before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serving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it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browser.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According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web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analytics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tracker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W3Techs,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PHP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underpins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roughly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75%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of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5">
                <a:solidFill>
                  <a:srgbClr val="333333"/>
                </a:solidFill>
                <a:latin typeface="Montserrat Thin"/>
                <a:cs typeface="Montserrat Thin"/>
              </a:rPr>
              <a:t>all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websites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where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server-side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language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can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be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identified.</a:t>
            </a:r>
            <a:endParaRPr sz="1250">
              <a:latin typeface="Montserrat Thin"/>
              <a:cs typeface="Montserrat Thi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250">
              <a:latin typeface="Montserrat Thin"/>
              <a:cs typeface="Montserrat Thin"/>
            </a:endParaRPr>
          </a:p>
          <a:p>
            <a:pPr marL="12700" marR="616585">
              <a:lnSpc>
                <a:spcPct val="127299"/>
              </a:lnSpc>
            </a:pP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“All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servers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using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any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version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of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PHP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released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in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last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20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years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will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be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vulnerable.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This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issue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impacts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5">
                <a:solidFill>
                  <a:srgbClr val="333333"/>
                </a:solidFill>
                <a:latin typeface="Montserrat Thin"/>
                <a:cs typeface="Montserrat Thin"/>
              </a:rPr>
              <a:t>the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majority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of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Internet,”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said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Tiffany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Farriss,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interim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chief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executive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of</a:t>
            </a:r>
            <a:r>
              <a:rPr dirty="0" sz="1250" spc="8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Drupal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Association.</a:t>
            </a:r>
            <a:endParaRPr sz="1250">
              <a:latin typeface="Montserrat Thin"/>
              <a:cs typeface="Montserrat Thi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250">
              <a:latin typeface="Montserrat Thin"/>
              <a:cs typeface="Montserrat Thin"/>
            </a:endParaRPr>
          </a:p>
          <a:p>
            <a:pPr marL="12700" marR="463550">
              <a:lnSpc>
                <a:spcPct val="127299"/>
              </a:lnSpc>
              <a:spcBef>
                <a:spcPts val="5"/>
              </a:spcBef>
            </a:pP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Due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this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widespread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footprint,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national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cyber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agencies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across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Britain,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Europe,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Japan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Australia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issued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advisories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directing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web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administrators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install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updates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immediately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or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take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public-facing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pages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offline.</a:t>
            </a:r>
            <a:endParaRPr sz="1250">
              <a:latin typeface="Montserrat Thin"/>
              <a:cs typeface="Montserrat Thin"/>
            </a:endParaRPr>
          </a:p>
          <a:p>
            <a:pPr>
              <a:lnSpc>
                <a:spcPct val="100000"/>
              </a:lnSpc>
            </a:pPr>
            <a:endParaRPr sz="1250">
              <a:latin typeface="Montserrat Thin"/>
              <a:cs typeface="Montserrat Thi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250">
              <a:latin typeface="Montserrat Thin"/>
              <a:cs typeface="Montserrat Thin"/>
            </a:endParaRPr>
          </a:p>
          <a:p>
            <a:pPr marL="12700">
              <a:lnSpc>
                <a:spcPct val="100000"/>
              </a:lnSpc>
            </a:pPr>
            <a:r>
              <a:rPr dirty="0" sz="1900" spc="135" b="1">
                <a:solidFill>
                  <a:srgbClr val="333333"/>
                </a:solidFill>
                <a:latin typeface="Century Gothic"/>
                <a:cs typeface="Century Gothic"/>
              </a:rPr>
              <a:t>Flaw</a:t>
            </a:r>
            <a:r>
              <a:rPr dirty="0" sz="1900" spc="90" b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900" b="1">
                <a:solidFill>
                  <a:srgbClr val="333333"/>
                </a:solidFill>
                <a:latin typeface="Century Gothic"/>
                <a:cs typeface="Century Gothic"/>
              </a:rPr>
              <a:t>discovered</a:t>
            </a:r>
            <a:r>
              <a:rPr dirty="0" sz="1900" spc="95" b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900" spc="140" b="1">
                <a:solidFill>
                  <a:srgbClr val="333333"/>
                </a:solidFill>
                <a:latin typeface="Century Gothic"/>
                <a:cs typeface="Century Gothic"/>
              </a:rPr>
              <a:t>through</a:t>
            </a:r>
            <a:r>
              <a:rPr dirty="0" sz="1900" spc="95" b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900" spc="105" b="1">
                <a:solidFill>
                  <a:srgbClr val="333333"/>
                </a:solidFill>
                <a:latin typeface="Century Gothic"/>
                <a:cs typeface="Century Gothic"/>
              </a:rPr>
              <a:t>Artificial</a:t>
            </a:r>
            <a:r>
              <a:rPr dirty="0" sz="1900" spc="90" b="1">
                <a:solidFill>
                  <a:srgbClr val="333333"/>
                </a:solidFill>
                <a:latin typeface="Century Gothic"/>
                <a:cs typeface="Century Gothic"/>
              </a:rPr>
              <a:t> </a:t>
            </a:r>
            <a:r>
              <a:rPr dirty="0" sz="1900" spc="55" b="1">
                <a:solidFill>
                  <a:srgbClr val="333333"/>
                </a:solidFill>
                <a:latin typeface="Century Gothic"/>
                <a:cs typeface="Century Gothic"/>
              </a:rPr>
              <a:t>Intelligence</a:t>
            </a:r>
            <a:endParaRPr sz="1900">
              <a:latin typeface="Century Gothic"/>
              <a:cs typeface="Century Gothic"/>
            </a:endParaRPr>
          </a:p>
          <a:p>
            <a:pPr marL="12700" marR="5080">
              <a:lnSpc>
                <a:spcPct val="127299"/>
              </a:lnSpc>
              <a:spcBef>
                <a:spcPts val="1145"/>
              </a:spcBef>
            </a:pP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underlying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security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flaw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sat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hidden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in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software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codebase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for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over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decade.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In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technical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brief,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Alphabet-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owned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cybersecurity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firm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Wiz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revealed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that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human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researchers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would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have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found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it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extraordinarily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complex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5">
                <a:solidFill>
                  <a:srgbClr val="333333"/>
                </a:solidFill>
                <a:latin typeface="Montserrat Thin"/>
                <a:cs typeface="Montserrat Thin"/>
              </a:rPr>
              <a:t>to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locate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exploit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through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conventional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testing.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Instead,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vulnerability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was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surfaced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through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advanced</a:t>
            </a:r>
            <a:r>
              <a:rPr dirty="0" sz="1250" spc="9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5">
                <a:solidFill>
                  <a:srgbClr val="333333"/>
                </a:solidFill>
                <a:latin typeface="Montserrat Thin"/>
                <a:cs typeface="Montserrat Thin"/>
              </a:rPr>
              <a:t>AI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tooling:</a:t>
            </a:r>
            <a:endParaRPr sz="1250">
              <a:latin typeface="Montserrat Thin"/>
              <a:cs typeface="Montserrat Thin"/>
            </a:endParaRPr>
          </a:p>
          <a:p>
            <a:pPr>
              <a:lnSpc>
                <a:spcPct val="100000"/>
              </a:lnSpc>
            </a:pPr>
            <a:endParaRPr sz="1250">
              <a:latin typeface="Montserrat Thin"/>
              <a:cs typeface="Montserrat Thi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250">
              <a:latin typeface="Montserrat Thin"/>
              <a:cs typeface="Montserrat Thin"/>
            </a:endParaRPr>
          </a:p>
          <a:p>
            <a:pPr marL="12700" marR="89535">
              <a:lnSpc>
                <a:spcPct val="127299"/>
              </a:lnSpc>
            </a:pP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Wiz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discovered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flaw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using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Wiz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Atlas,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its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autonomous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vulnerability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discovery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system,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working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alongside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Google’s</a:t>
            </a:r>
            <a:r>
              <a:rPr dirty="0" sz="1250" spc="6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Gemini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4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Argon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6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OpenAI’s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20">
                <a:solidFill>
                  <a:srgbClr val="333333"/>
                </a:solidFill>
                <a:latin typeface="Montserrat Thin"/>
                <a:cs typeface="Montserrat Thin"/>
              </a:rPr>
              <a:t>GPT-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5.6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Sol.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Wiz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collaborated</a:t>
            </a:r>
            <a:r>
              <a:rPr dirty="0" sz="1250" spc="6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with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PHP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core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developer</a:t>
            </a:r>
            <a:r>
              <a:rPr dirty="0" sz="1250" spc="6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team,</a:t>
            </a:r>
            <a:r>
              <a:rPr dirty="0" sz="1250" spc="6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OpenAI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security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firm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Calif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to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verify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the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bug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confirm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remediation</a:t>
            </a:r>
            <a:r>
              <a:rPr dirty="0" sz="1250" spc="8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patches.</a:t>
            </a:r>
            <a:endParaRPr sz="1250">
              <a:latin typeface="Montserrat Thin"/>
              <a:cs typeface="Montserrat Thi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942" y="6782251"/>
            <a:ext cx="822769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Early</a:t>
            </a:r>
            <a:r>
              <a:rPr dirty="0" sz="1250" spc="2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mitigation</a:t>
            </a:r>
            <a:r>
              <a:rPr dirty="0" sz="1250" spc="2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protocols</a:t>
            </a:r>
            <a:r>
              <a:rPr dirty="0" sz="1250" spc="3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were</a:t>
            </a:r>
            <a:r>
              <a:rPr dirty="0" sz="1250" spc="2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shared</a:t>
            </a:r>
            <a:r>
              <a:rPr dirty="0" sz="1250" spc="2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with</a:t>
            </a:r>
            <a:r>
              <a:rPr dirty="0" sz="1250" spc="3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cloud</a:t>
            </a:r>
            <a:r>
              <a:rPr dirty="0" sz="1250" spc="2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2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infrastructure</a:t>
            </a:r>
            <a:r>
              <a:rPr dirty="0" sz="1250" spc="3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operators,</a:t>
            </a:r>
            <a:r>
              <a:rPr dirty="0" sz="1250" spc="2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including</a:t>
            </a:r>
            <a:r>
              <a:rPr dirty="0" sz="1250" spc="3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10">
                <a:solidFill>
                  <a:srgbClr val="333333"/>
                </a:solidFill>
                <a:latin typeface="Montserrat Thin"/>
                <a:cs typeface="Montserrat Thin"/>
              </a:rPr>
              <a:t>Google</a:t>
            </a:r>
            <a:r>
              <a:rPr dirty="0" sz="1250" spc="2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Cloud,</a:t>
            </a:r>
            <a:endParaRPr sz="1250">
              <a:latin typeface="Montserrat Thin"/>
              <a:cs typeface="Montserrat Thi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099" y="7458231"/>
            <a:ext cx="3061970" cy="13906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800" spc="-10">
                <a:latin typeface="Arial"/>
                <a:cs typeface="Arial"/>
                <a:hlinkClick r:id="rId2"/>
              </a:rPr>
              <a:t>https://timesofindia.indiatimes.com/articleshowprint/135097877.cms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</a:t>
            </a: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099" y="171513"/>
            <a:ext cx="8774430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52040" algn="l"/>
              </a:tabLst>
            </a:pPr>
            <a:r>
              <a:rPr dirty="0" sz="800" spc="-10">
                <a:latin typeface="Arial"/>
                <a:cs typeface="Arial"/>
              </a:rPr>
              <a:t>10/22/26, </a:t>
            </a:r>
            <a:r>
              <a:rPr dirty="0" sz="800">
                <a:latin typeface="Arial"/>
                <a:cs typeface="Arial"/>
              </a:rPr>
              <a:t>7:39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PM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10">
                <a:latin typeface="Arial"/>
                <a:cs typeface="Arial"/>
              </a:rPr>
              <a:t>Decades-</a:t>
            </a:r>
            <a:r>
              <a:rPr dirty="0" sz="800">
                <a:latin typeface="Arial"/>
                <a:cs typeface="Arial"/>
              </a:rPr>
              <a:t>old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flaw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discovered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Google,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OpenAI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AI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tools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forces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government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public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websites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go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offline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globally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-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Times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India</a:t>
            </a:r>
            <a:endParaRPr sz="800">
              <a:latin typeface="Arial"/>
              <a:cs typeface="Arial"/>
            </a:endParaRPr>
          </a:p>
          <a:p>
            <a:pPr marL="248920" marR="5080">
              <a:lnSpc>
                <a:spcPct val="127299"/>
              </a:lnSpc>
              <a:spcBef>
                <a:spcPts val="830"/>
              </a:spcBef>
            </a:pP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Cloudflare,</a:t>
            </a:r>
            <a:r>
              <a:rPr dirty="0" sz="1250" spc="9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Amazon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Web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Services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(AWS),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Microsoft,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Automattic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(operator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of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WordPress.com),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Fastly,</a:t>
            </a:r>
            <a:r>
              <a:rPr dirty="0" sz="1250" spc="10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Akamai,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Imperva</a:t>
            </a:r>
            <a:r>
              <a:rPr dirty="0" sz="1250" spc="70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>
                <a:solidFill>
                  <a:srgbClr val="333333"/>
                </a:solidFill>
                <a:latin typeface="Montserrat Thin"/>
                <a:cs typeface="Montserrat Thin"/>
              </a:rPr>
              <a:t>and</a:t>
            </a:r>
            <a:r>
              <a:rPr dirty="0" sz="1250" spc="75">
                <a:solidFill>
                  <a:srgbClr val="333333"/>
                </a:solidFill>
                <a:latin typeface="Montserrat Thin"/>
                <a:cs typeface="Montserrat Thin"/>
              </a:rPr>
              <a:t> </a:t>
            </a:r>
            <a:r>
              <a:rPr dirty="0" sz="1250" spc="-10">
                <a:solidFill>
                  <a:srgbClr val="333333"/>
                </a:solidFill>
                <a:latin typeface="Montserrat Thin"/>
                <a:cs typeface="Montserrat Thin"/>
              </a:rPr>
              <a:t>Vercel.</a:t>
            </a:r>
            <a:endParaRPr sz="1250">
              <a:latin typeface="Montserrat Thin"/>
              <a:cs typeface="Montserrat Thi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2099" y="7458231"/>
            <a:ext cx="3061970" cy="13906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800" spc="-10">
                <a:latin typeface="Arial"/>
                <a:cs typeface="Arial"/>
                <a:hlinkClick r:id="rId2"/>
              </a:rPr>
              <a:t>https://timesofindia.indiatimes.com/articleshowprint/135097877.cms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</a:t>
            </a: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Decades-old flaw discovered by Google, OpenAI AI tools forces government and public websites to go offline globally - Times of India</dc:title>
  <dcterms:created xsi:type="dcterms:W3CDTF">2026-10-25T10:18:39Z</dcterms:created>
  <dcterms:modified xsi:type="dcterms:W3CDTF">2026-10-25T10:18:39Z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2026-10-22T00:00:00Z</vt:filetime>
  </property>
  <property fmtid="{D5CDD505-2E9C-101B-9397-08002B2CF9AE}" pid="4" name="Creator">
    <vt:lpwstr>Mozilla/5.0 (Windows NT 10.0; Win64; x64) AppleWebKit/537.36 (KHTML, like Gecko) Chrome/154.0.0.0 Safari/537.36</vt:lpwstr>
  </property>
  <property fmtid="{D5CDD505-2E9C-101B-9397-08002B2CF9AE}" pid="5" name="LastSaved">
    <vt:filetime>2026-10-25T00:00:00Z</vt:filetime>
  </property>
  <property fmtid="{D5CDD505-2E9C-101B-9397-08002B2CF9AE}" pid="6" name="Producer">
    <vt:lpwstr>Skia/PDF m154</vt:lpwstr>
  </property>
</Properties>
</file>